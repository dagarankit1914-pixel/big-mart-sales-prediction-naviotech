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74720" cy="6858000"/>
          </a:xfrm>
          <a:prstGeom prst="rect">
            <a:avLst/>
          </a:prstGeom>
          <a:solidFill>
            <a:srgbClr val="11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EAEFF"/>
                </a:solidFill>
                <a:latin typeface="Aptos"/>
              </a:rPr>
              <a:t>BIG 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72768"/>
            <a:ext cx="7589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0F4FA"/>
                </a:solidFill>
                <a:latin typeface="Aptos"/>
              </a:rPr>
              <a:t>Sales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606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6B2C6"/>
                </a:solidFill>
                <a:latin typeface="Aptos"/>
              </a:rPr>
              <a:t>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24612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A"/>
                </a:solidFill>
                <a:latin typeface="Aptos"/>
              </a:rPr>
              <a:t>XGBoost Regression • Data Analysis • Predictive Modeling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709160"/>
            <a:ext cx="2286000" cy="114300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4873752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B2C6"/>
                </a:solidFill>
                <a:latin typeface="Aptos"/>
              </a:rPr>
              <a:t>TRAINING 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5184648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9DFB3"/>
                </a:solidFill>
                <a:latin typeface="Aptos"/>
              </a:rPr>
              <a:t>87.51%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4709160"/>
            <a:ext cx="2286000" cy="114300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4873752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B2C6"/>
                </a:solidFill>
                <a:latin typeface="Aptos"/>
              </a:rPr>
              <a:t>TESTING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5184648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EAEFF"/>
                </a:solidFill>
                <a:latin typeface="Aptos"/>
              </a:rPr>
              <a:t>51.56%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6172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2C6"/>
                </a:solidFill>
                <a:latin typeface="Aptos"/>
              </a:rPr>
              <a:t>Final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What the project is designed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6949440" cy="429768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EAEFF"/>
                </a:solidFill>
                <a:latin typeface="Aptos"/>
              </a:rPr>
              <a:t>Business / analytical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0F4FA"/>
                </a:solidFill>
                <a:latin typeface="Aptos"/>
              </a:rPr>
              <a:t>Predict Item_Outlet_Sales using product and outlet characteristics.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6126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Explore a real-world retail sales dataset.</a:t>
            </a:r>
          </a:p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Prepare missing and inconsistent data for modeling.</a:t>
            </a:r>
          </a:p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Encode categorical variables into numerical representations.</a:t>
            </a:r>
          </a:p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Train and evaluate an XGBoost regression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600200"/>
            <a:ext cx="3611880" cy="4297680"/>
          </a:xfrm>
          <a:prstGeom prst="roundRect">
            <a:avLst/>
          </a:prstGeom>
          <a:solidFill>
            <a:srgbClr val="11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B2C6"/>
                </a:solidFill>
                <a:latin typeface="Aptos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231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9DFB3"/>
                </a:solidFill>
                <a:latin typeface="Aptos"/>
              </a:rPr>
              <a:t>Item_Outlet_Sales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B2C6"/>
                </a:solidFill>
                <a:latin typeface="Aptos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F4FA"/>
                </a:solidFill>
                <a:latin typeface="Aptos"/>
              </a:rPr>
              <a:t>XGBoost
Regressor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B2C6"/>
                </a:solidFill>
                <a:latin typeface="Aptos"/>
              </a:rP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03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AEFF"/>
                </a:solidFill>
                <a:latin typeface="Aptos"/>
              </a:rPr>
              <a:t>R²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Initial structure used in the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286000" cy="123444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B2C6"/>
                </a:solidFill>
                <a:latin typeface="Aptos"/>
              </a:rPr>
              <a:t>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EAEFF"/>
                </a:solidFill>
                <a:latin typeface="Aptos"/>
              </a:rPr>
              <a:t>8,523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600200"/>
            <a:ext cx="2286000" cy="123444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764792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B2C6"/>
                </a:solidFill>
                <a:latin typeface="Aptos"/>
              </a:rPr>
              <a:t>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075688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9DFB3"/>
                </a:solidFill>
                <a:latin typeface="Aptos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600200"/>
            <a:ext cx="2286000" cy="123444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764792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B2C6"/>
                </a:solidFill>
                <a:latin typeface="Aptos"/>
              </a:rP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2075688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B85C"/>
                </a:solidFill>
                <a:latin typeface="Aptos"/>
              </a:rPr>
              <a:t>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383280" cy="123444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764792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B2C6"/>
                </a:solidFill>
                <a:latin typeface="Aptos"/>
              </a:rPr>
              <a:t>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75688"/>
            <a:ext cx="29809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EAEFF"/>
                </a:solidFill>
                <a:latin typeface="Aptos"/>
              </a:rPr>
              <a:t>80 / 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5394960" cy="256032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AEFF"/>
                </a:solidFill>
                <a:latin typeface="Aptos"/>
              </a:rPr>
              <a:t>Product-related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8862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Item_Identifier</a:t>
            </a:r>
          </a:p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Item_Weight</a:t>
            </a:r>
          </a:p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Item_Fat_Content</a:t>
            </a:r>
          </a:p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Item_Visibility</a:t>
            </a:r>
          </a:p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Item_Type</a:t>
            </a:r>
          </a:p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Item_MRP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154680"/>
            <a:ext cx="5212080" cy="256032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9DFB3"/>
                </a:solidFill>
                <a:latin typeface="Aptos"/>
              </a:rPr>
              <a:t>Outlet-related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Outlet_Identifier</a:t>
            </a:r>
          </a:p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Outlet_Establishment_Year</a:t>
            </a:r>
          </a:p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Outlet_Size</a:t>
            </a:r>
          </a:p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Outlet_Location_Type</a:t>
            </a:r>
          </a:p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Outlet_Type</a:t>
            </a:r>
          </a:p>
          <a:p>
            <a:pPr>
              <a:spcAft>
                <a:spcPts val="600"/>
              </a:spcAft>
              <a:defRPr sz="1400">
                <a:solidFill>
                  <a:srgbClr val="F0F4FA"/>
                </a:solidFill>
                <a:latin typeface="Aptos"/>
              </a:defRPr>
            </a:pPr>
            <a:r>
              <a:t>• Item_Outlet_Sales (target)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Cleaning steps applied before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89920" cy="86868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013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E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F4FA"/>
                </a:solidFill>
                <a:latin typeface="Aptos"/>
              </a:rPr>
              <a:t>Missing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3736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B2C6"/>
                </a:solidFill>
                <a:latin typeface="Aptos"/>
              </a:rPr>
              <a:t>Item_Weight and Outlet_Size were identified and imputed.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789920" cy="86868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443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E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F4FA"/>
                </a:solidFill>
                <a:latin typeface="Aptos"/>
              </a:rPr>
              <a:t>Category cleanup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8036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B2C6"/>
                </a:solidFill>
                <a:latin typeface="Aptos"/>
              </a:rPr>
              <a:t>Item_Fat_Content labels were standardized.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10789920" cy="86868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873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E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F4FA"/>
                </a:solidFill>
                <a:latin typeface="Aptos"/>
              </a:rPr>
              <a:t>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2336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B2C6"/>
                </a:solidFill>
                <a:latin typeface="Aptos"/>
              </a:rPr>
              <a:t>Categorical features were label-encoded.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789920" cy="86868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303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E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F4FA"/>
                </a:solidFill>
                <a:latin typeface="Aptos"/>
              </a:rPr>
              <a:t>Feature /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16636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B2C6"/>
                </a:solidFill>
                <a:latin typeface="Aptos"/>
              </a:rPr>
              <a:t>Item_Outlet_Sales was separated as the target.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Missing-Value Treatment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Keeping the dataset usable without dropping affected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20624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AEFF"/>
                </a:solidFill>
                <a:latin typeface="Aptos"/>
              </a:rPr>
              <a:t>Item_Weight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4343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A"/>
                </a:solidFill>
                <a:latin typeface="Aptos"/>
              </a:rPr>
              <a:t>Missing numerical values were filled using the mean of the available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9DFB3"/>
                </a:solidFill>
                <a:latin typeface="Aptos"/>
              </a:rPr>
              <a:t>Mean imputation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420624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9DFB3"/>
                </a:solidFill>
                <a:latin typeface="Aptos"/>
              </a:rPr>
              <a:t>Outlet_Size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4343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A"/>
                </a:solidFill>
                <a:latin typeface="Aptos"/>
              </a:rPr>
              <a:t>Missing outlet-size values were filled using the most common size associated with outlet 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434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EAEFF"/>
                </a:solidFill>
                <a:latin typeface="Aptos"/>
              </a:rPr>
              <a:t>Mode by outlet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Understanding distributions before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6400800" cy="448056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EAEFF"/>
                </a:solidFill>
                <a:latin typeface="Aptos"/>
              </a:rPr>
              <a:t>Numerical variables explored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0F4FA"/>
                </a:solidFill>
                <a:latin typeface="Aptos"/>
              </a:defRPr>
            </a:pPr>
            <a:r>
              <a:t>• Item_Weight</a:t>
            </a:r>
          </a:p>
          <a:p>
            <a:pPr>
              <a:spcAft>
                <a:spcPts val="600"/>
              </a:spcAft>
              <a:defRPr sz="1800">
                <a:solidFill>
                  <a:srgbClr val="F0F4FA"/>
                </a:solidFill>
                <a:latin typeface="Aptos"/>
              </a:defRPr>
            </a:pPr>
            <a:r>
              <a:t>• Item_Visibility</a:t>
            </a:r>
          </a:p>
          <a:p>
            <a:pPr>
              <a:spcAft>
                <a:spcPts val="600"/>
              </a:spcAft>
              <a:defRPr sz="1800">
                <a:solidFill>
                  <a:srgbClr val="F0F4FA"/>
                </a:solidFill>
                <a:latin typeface="Aptos"/>
              </a:defRPr>
            </a:pPr>
            <a:r>
              <a:t>• Item_MRP</a:t>
            </a:r>
          </a:p>
          <a:p>
            <a:pPr>
              <a:spcAft>
                <a:spcPts val="600"/>
              </a:spcAft>
              <a:defRPr sz="1800">
                <a:solidFill>
                  <a:srgbClr val="F0F4FA"/>
                </a:solidFill>
                <a:latin typeface="Aptos"/>
              </a:defRPr>
            </a:pPr>
            <a:r>
              <a:t>• Outlet_Establishment_Year</a:t>
            </a:r>
          </a:p>
          <a:p>
            <a:pPr>
              <a:spcAft>
                <a:spcPts val="600"/>
              </a:spcAft>
              <a:defRPr sz="1800">
                <a:solidFill>
                  <a:srgbClr val="F0F4FA"/>
                </a:solidFill>
                <a:latin typeface="Aptos"/>
              </a:defRPr>
            </a:pPr>
            <a:r>
              <a:t>• Item_Outlet_Sales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6634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6B2C6"/>
                </a:solidFill>
                <a:latin typeface="Aptos"/>
              </a:rPr>
              <a:t>Categorical variables were also examined to understand product and outlet composition.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554480"/>
            <a:ext cx="4160520" cy="4480560"/>
          </a:xfrm>
          <a:prstGeom prst="roundRect">
            <a:avLst/>
          </a:prstGeom>
          <a:solidFill>
            <a:srgbClr val="11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9DFB3"/>
                </a:solidFill>
                <a:latin typeface="Aptos"/>
              </a:rPr>
              <a:t>EDA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423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0F4FA"/>
                </a:solidFill>
                <a:latin typeface="Aptos"/>
              </a:rPr>
              <a:t>Find patterns
before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8862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A"/>
                </a:solidFill>
                <a:latin typeface="Aptos"/>
              </a:rPr>
              <a:t>• distribution
• category balance
• potential anomalies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Categorical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Standardization and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303520" cy="448056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EAEFF"/>
                </a:solidFill>
                <a:latin typeface="Aptos"/>
              </a:rPr>
              <a:t>Standardizing Item_Fat_Content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526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A"/>
                </a:solidFill>
                <a:latin typeface="Aptos"/>
              </a:rPr>
              <a:t>Multiple labels represented the same underlying categories.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9DFB3"/>
                </a:solidFill>
                <a:latin typeface="Aptos"/>
              </a:rPr>
              <a:t>LF  →  Low Fat
low fat  →  Low Fat
reg  →  Regular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448056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9DFB3"/>
                </a:solidFill>
                <a:latin typeface="Aptos"/>
              </a:rPr>
              <a:t>Label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A"/>
                </a:solidFill>
                <a:latin typeface="Aptos"/>
              </a:rPr>
              <a:t>Categorical columns were converted to numerical labels so they could be used by the machine-learning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617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EAEFF"/>
                </a:solidFill>
                <a:latin typeface="Aptos"/>
              </a:rPr>
              <a:t>Model-ready feature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Modeling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From prepared data to an evaluated regression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1874519" cy="1828800"/>
          </a:xfrm>
          <a:prstGeom prst="roundRect">
            <a:avLst/>
          </a:prstGeom>
          <a:solidFill>
            <a:srgbClr val="11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606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EAEFF"/>
                </a:solidFill>
                <a:latin typeface="Apto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2461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F4FA"/>
                </a:solidFill>
                <a:latin typeface="Aptos"/>
              </a:rPr>
              <a:t>Prepared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6B2C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2331720"/>
            <a:ext cx="1874519" cy="182880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2606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9DFB3"/>
                </a:solidFill>
                <a:latin typeface="Aptos"/>
              </a:rPr>
              <a:t>X /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32461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F4FA"/>
                </a:solidFill>
                <a:latin typeface="Aptos"/>
              </a:rPr>
              <a:t>Features +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6B2C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331720"/>
            <a:ext cx="1874519" cy="1828800"/>
          </a:xfrm>
          <a:prstGeom prst="roundRect">
            <a:avLst/>
          </a:prstGeom>
          <a:solidFill>
            <a:srgbClr val="11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2392" y="2606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EAEFF"/>
                </a:solidFill>
                <a:latin typeface="Aptos"/>
              </a:rPr>
              <a:t>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32461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F4FA"/>
                </a:solidFill>
                <a:latin typeface="Aptos"/>
              </a:rPr>
              <a:t>80% /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6B2C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2331720"/>
            <a:ext cx="1874519" cy="182880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1" y="2606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9DFB3"/>
                </a:solidFill>
                <a:latin typeface="Aptos"/>
              </a:rP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32461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F4FA"/>
                </a:solidFill>
                <a:latin typeface="Aptos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7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6B2C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2331720"/>
            <a:ext cx="1874519" cy="1828800"/>
          </a:xfrm>
          <a:prstGeom prst="roundRect">
            <a:avLst/>
          </a:prstGeom>
          <a:solidFill>
            <a:srgbClr val="11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2606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EAEFF"/>
                </a:solidFill>
                <a:latin typeface="Aptos"/>
              </a:rP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32461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F4FA"/>
                </a:solidFill>
                <a:latin typeface="Aptos"/>
              </a:rPr>
              <a:t>R²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98348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6B2C6"/>
                </a:solidFill>
                <a:latin typeface="Aptos"/>
              </a:rPr>
              <a:t>A fixed random state keeps the train/test split reproducible.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XGBoost Regressor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The final model used for sales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766560" cy="448056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AEFF"/>
                </a:solidFill>
                <a:latin typeface="Aptos"/>
              </a:rPr>
              <a:t>Why XGBoost?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5715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Gradient-boosting model based on decision trees.</a:t>
            </a:r>
          </a:p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Designed for strong predictive performance on structured/tabular data.</a:t>
            </a:r>
          </a:p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Used here as a regression model because sales are continuous numerical values.</a:t>
            </a:r>
          </a:p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The notebook trains the model on the 80% training subset.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00200"/>
            <a:ext cx="3657600" cy="4480560"/>
          </a:xfrm>
          <a:prstGeom prst="roundRect">
            <a:avLst/>
          </a:prstGeom>
          <a:solidFill>
            <a:srgbClr val="11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77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9DFB3"/>
                </a:solidFill>
                <a:latin typeface="Aptos"/>
              </a:rPr>
              <a:t>Item_Outlet_Sales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74903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EAEFF"/>
                </a:solidFill>
                <a:latin typeface="Aptos"/>
              </a:rPr>
              <a:t>reg:squarederror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B85C"/>
                </a:solidFill>
                <a:latin typeface="Aptos"/>
              </a:rPr>
              <a:t>R²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Final results from the cleaned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029200" cy="141732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10512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B2C6"/>
                </a:solidFill>
                <a:latin typeface="Aptos"/>
              </a:rPr>
              <a:t>TRAINING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121408"/>
            <a:ext cx="46268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9DFB3"/>
                </a:solidFill>
                <a:latin typeface="Aptos"/>
              </a:rPr>
              <a:t>87.51%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45920"/>
            <a:ext cx="5029200" cy="141732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810512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B2C6"/>
                </a:solidFill>
                <a:latin typeface="Aptos"/>
              </a:rPr>
              <a:t>TESTING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121408"/>
            <a:ext cx="46268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EAEFF"/>
                </a:solidFill>
                <a:latin typeface="Aptos"/>
              </a:rPr>
              <a:t>51.56%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10332720" cy="150876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Relative 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A"/>
                </a:solidFill>
                <a:latin typeface="Aptos"/>
              </a:rPr>
              <a:t>Training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4370832"/>
            <a:ext cx="7315200" cy="256032"/>
          </a:xfrm>
          <a:prstGeom prst="rect">
            <a:avLst/>
          </a:prstGeom>
          <a:solidFill>
            <a:srgbClr val="79D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4279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9DFB3"/>
                </a:solidFill>
                <a:latin typeface="Aptos"/>
              </a:rPr>
              <a:t>87.51%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A"/>
                </a:solidFill>
                <a:latin typeface="Aptos"/>
              </a:rPr>
              <a:t>Testing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4690872"/>
            <a:ext cx="4306824" cy="256032"/>
          </a:xfrm>
          <a:prstGeom prst="rect">
            <a:avLst/>
          </a:prstGeom>
          <a:solidFill>
            <a:srgbClr val="4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45994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EAEFF"/>
                </a:solidFill>
                <a:latin typeface="Aptos"/>
              </a:rPr>
              <a:t>51.56%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B2C6"/>
                </a:solidFill>
                <a:latin typeface="Aptos"/>
              </a:rPr>
              <a:t>R² measures the proportion of variation in the target explained by the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What the Results Tell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Interpreting the train/test performance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57800" cy="443484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4EAEFF"/>
                </a:solidFill>
                <a:latin typeface="Aptos"/>
              </a:rPr>
              <a:t>87.51% → 51.56%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4343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4FA"/>
                </a:solidFill>
                <a:latin typeface="Aptos"/>
              </a:rPr>
              <a:t>The model performs substantially better on training data than on unseen testing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8056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B85C"/>
                </a:solidFill>
                <a:latin typeface="Aptos"/>
              </a:rPr>
              <a:t>A noticeable gap suggests some degree of overfitting.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57800" cy="4434840"/>
          </a:xfrm>
          <a:prstGeom prst="roundRect">
            <a:avLst/>
          </a:prstGeom>
          <a:solidFill>
            <a:srgbClr val="11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9DFB3"/>
                </a:solidFill>
                <a:latin typeface="Aptos"/>
              </a:rPr>
              <a:t>Key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Testing performance is the better indicator of generalization.</a:t>
            </a:r>
          </a:p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The model captures a meaningful portion of sales variation.</a:t>
            </a:r>
          </a:p>
          <a:p>
            <a:pPr>
              <a:spcAft>
                <a:spcPts val="600"/>
              </a:spcAft>
              <a:defRPr sz="1700">
                <a:solidFill>
                  <a:srgbClr val="F0F4FA"/>
                </a:solidFill>
                <a:latin typeface="Aptos"/>
              </a:defRPr>
            </a:pPr>
            <a:r>
              <a:t>• Further tuning could focus on reducing the train/test gap.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A"/>
                </a:solidFill>
                <a:latin typeface="Aptos"/>
              </a:rPr>
              <a:t>Conclusion &amp; 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Final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B2C6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400800" cy="4480560"/>
          </a:xfrm>
          <a:prstGeom prst="roundRect">
            <a:avLst/>
          </a:prstGeom>
          <a:solidFill>
            <a:srgbClr val="17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AEFF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5486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0F4FA"/>
                </a:solidFill>
                <a:latin typeface="Aptos"/>
              </a:defRPr>
            </a:pPr>
            <a:r>
              <a:t>• Completed an end-to-end Big Mart sales prediction workflow.</a:t>
            </a:r>
          </a:p>
          <a:p>
            <a:pPr>
              <a:spcAft>
                <a:spcPts val="600"/>
              </a:spcAft>
              <a:defRPr sz="1600">
                <a:solidFill>
                  <a:srgbClr val="F0F4FA"/>
                </a:solidFill>
                <a:latin typeface="Aptos"/>
              </a:defRPr>
            </a:pPr>
            <a:r>
              <a:t>• Handled missing values and standardized categorical data.</a:t>
            </a:r>
          </a:p>
          <a:p>
            <a:pPr>
              <a:spcAft>
                <a:spcPts val="600"/>
              </a:spcAft>
              <a:defRPr sz="1600">
                <a:solidFill>
                  <a:srgbClr val="F0F4FA"/>
                </a:solidFill>
                <a:latin typeface="Aptos"/>
              </a:defRPr>
            </a:pPr>
            <a:r>
              <a:t>• Applied label encoding and an 80/20 train-test split.</a:t>
            </a:r>
          </a:p>
          <a:p>
            <a:pPr>
              <a:spcAft>
                <a:spcPts val="600"/>
              </a:spcAft>
              <a:defRPr sz="1600">
                <a:solidFill>
                  <a:srgbClr val="F0F4FA"/>
                </a:solidFill>
                <a:latin typeface="Aptos"/>
              </a:defRPr>
            </a:pPr>
            <a:r>
              <a:t>• Trained and evaluated an XGBoost regression model.</a:t>
            </a:r>
          </a:p>
          <a:p>
            <a:pPr>
              <a:spcAft>
                <a:spcPts val="600"/>
              </a:spcAft>
              <a:defRPr sz="1600">
                <a:solidFill>
                  <a:srgbClr val="F0F4FA"/>
                </a:solidFill>
                <a:latin typeface="Aptos"/>
              </a:defRPr>
            </a:pPr>
            <a:r>
              <a:t>• Final R²: 87.51% training and 51.56%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554480"/>
            <a:ext cx="4069080" cy="4480560"/>
          </a:xfrm>
          <a:prstGeom prst="roundRect">
            <a:avLst/>
          </a:prstGeom>
          <a:solidFill>
            <a:srgbClr val="11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9DFB3"/>
                </a:solidFill>
                <a:latin typeface="Aptos"/>
              </a:rPr>
              <a:t>Submission 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487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4FA"/>
                </a:solidFill>
                <a:latin typeface="Aptos"/>
              </a:rPr>
              <a:t>Final Jupyter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1729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4FA"/>
                </a:solidFill>
                <a:latin typeface="Aptos"/>
              </a:rPr>
              <a:t>README.md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B2C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58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F4FA"/>
                </a:solidFill>
                <a:latin typeface="Aptos"/>
              </a:rPr>
              <a:t>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2C6"/>
                </a:solidFill>
                <a:latin typeface="Aptos"/>
              </a:rPr>
              <a:t>Big Mart Sales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